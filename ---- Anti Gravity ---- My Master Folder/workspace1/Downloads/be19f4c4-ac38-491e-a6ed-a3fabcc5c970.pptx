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"/>
  </p:notesMasterIdLst>
  <p:sldIdLst>
    <p:sldId id="257" r:id="rId2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</p:sldIdLst>
  <p:sldSz cx="18288000" cy="10287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Raleway" pitchFamily="2" charset="77"/>
      <p:regular r:id="rId8"/>
      <p:bold r:id="rId9"/>
      <p:italic r:id="rId10"/>
      <p:boldItalic r:id="rId11"/>
    </p:embeddedFont>
    <p:embeddedFont>
      <p:font typeface="Roboto Light" panose="020F0302020204030204" pitchFamily="3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55" userDrawn="1">
          <p15:clr>
            <a:srgbClr val="000000"/>
          </p15:clr>
        </p15:guide>
        <p15:guide id="2" pos="58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00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9"/>
    <p:restoredTop sz="94789"/>
  </p:normalViewPr>
  <p:slideViewPr>
    <p:cSldViewPr snapToGrid="0">
      <p:cViewPr varScale="1">
        <p:scale>
          <a:sx n="75" d="100"/>
          <a:sy n="75" d="100"/>
        </p:scale>
        <p:origin x="408" y="160"/>
      </p:cViewPr>
      <p:guideLst>
        <p:guide orient="horz" pos="655"/>
        <p:guide pos="5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tags" Target="tags/tag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1_FIRST_SLIDE_LAYOU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73960F-5BCD-9B71-8C77-4E720F5358F1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109652" y="2882068"/>
            <a:ext cx="14068696" cy="180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15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Smart Slides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9652" y="4823012"/>
            <a:ext cx="14044090" cy="44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Make Slides in a flash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683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1st_Slide_FULL_LAYOU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29400" y="1027450"/>
            <a:ext cx="13969941" cy="180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Smart Slides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929400" y="3429000"/>
            <a:ext cx="11310225" cy="44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Make Slides in a flash</a:t>
            </a:r>
            <a:endParaRPr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73960F-5BCD-9B71-8C77-4E720F5358F1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3910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BASIC_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F9A914-029A-FACA-89CD-82BDDCAA23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899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F9A914-029A-FACA-89CD-82BDDCAA2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4" y="2277035"/>
            <a:ext cx="13968341" cy="732419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533400" lvl="0" indent="-4572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Raleway" pitchFamily="2" charset="77"/>
                <a:ea typeface="Raleway" pitchFamily="2" charset="77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3968341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Raleway" pitchFamily="2" charset="7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background_block">
            <a:extLst>
              <a:ext uri="{FF2B5EF4-FFF2-40B4-BE49-F238E27FC236}">
                <a16:creationId xmlns:a16="http://schemas.microsoft.com/office/drawing/2014/main" id="{75F89250-7C5B-B1F5-8200-8B8C635D3F3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7756372" y="0"/>
            <a:ext cx="531628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2135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TEXT_HALF_COLO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873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879496" y="3708450"/>
            <a:ext cx="7489429" cy="589275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879496" y="2263774"/>
            <a:ext cx="7489429" cy="144467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16002000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background_block">
            <a:extLst>
              <a:ext uri="{FF2B5EF4-FFF2-40B4-BE49-F238E27FC236}">
                <a16:creationId xmlns:a16="http://schemas.microsoft.com/office/drawing/2014/main" id="{E0646940-DA1E-5EA3-E796-448F4439F9B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9113045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720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FULLPAGE_IMAGE_QUOT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mage">
            <a:extLst>
              <a:ext uri="{FF2B5EF4-FFF2-40B4-BE49-F238E27FC236}">
                <a16:creationId xmlns:a16="http://schemas.microsoft.com/office/drawing/2014/main" id="{94B6F339-EBB5-67F5-7B23-40FE42957964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-1" y="6375"/>
            <a:ext cx="18288001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5" name="transparent_block"/>
          <p:cNvSpPr>
            <a:spLocks noGrp="1"/>
          </p:cNvSpPr>
          <p:nvPr>
            <p:ph type="pic" idx="2" hasCustomPrompt="1"/>
          </p:nvPr>
        </p:nvSpPr>
        <p:spPr>
          <a:xfrm>
            <a:off x="1" y="6375"/>
            <a:ext cx="18287999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image_attribution">
            <a:extLst>
              <a:ext uri="{FF2B5EF4-FFF2-40B4-BE49-F238E27FC236}">
                <a16:creationId xmlns:a16="http://schemas.microsoft.com/office/drawing/2014/main" id="{9EF8EFC7-DE23-07B9-50F1-01C75247A78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-1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2671483" y="5869292"/>
            <a:ext cx="13330518" cy="2759076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76200" lvl="0" indent="0" algn="ctr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2671482" y="2263775"/>
            <a:ext cx="13330518" cy="2879726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8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1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AGENDA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862458" y="0"/>
            <a:ext cx="5055325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29401" y="2011363"/>
            <a:ext cx="8214600" cy="141763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4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929401" y="3747247"/>
            <a:ext cx="8214600" cy="500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571500" lvl="0" indent="-57150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097672A-5659-5B5F-6D5C-F22FA04F334D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7450"/>
            <a:ext cx="1828950" cy="1808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2" name="image_attribution">
            <a:extLst>
              <a:ext uri="{FF2B5EF4-FFF2-40B4-BE49-F238E27FC236}">
                <a16:creationId xmlns:a16="http://schemas.microsoft.com/office/drawing/2014/main" id="{4FAB3CEC-34D5-F8C2-2849-CD522F40C82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862458" y="9601200"/>
            <a:ext cx="505532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7760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MIDDLE_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F9A914-029A-FACA-89CD-82BDDCAA23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899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F9A914-029A-FACA-89CD-82BDDCAA2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4831491" y="3207472"/>
            <a:ext cx="6499897" cy="192965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4831492" y="5149875"/>
            <a:ext cx="6499896" cy="445772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533400" lvl="0" indent="-4572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8" name="logo"/>
          <p:cNvSpPr>
            <a:spLocks noGrp="1"/>
          </p:cNvSpPr>
          <p:nvPr>
            <p:ph type="pic" idx="2"/>
          </p:nvPr>
        </p:nvSpPr>
        <p:spPr>
          <a:xfrm>
            <a:off x="4831491" y="102870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image">
            <a:extLst>
              <a:ext uri="{FF2B5EF4-FFF2-40B4-BE49-F238E27FC236}">
                <a16:creationId xmlns:a16="http://schemas.microsoft.com/office/drawing/2014/main" id="{06D4F85C-9A50-3DC0-80AA-7315DE0FAC40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2239625" y="6375"/>
            <a:ext cx="6048375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2</a:t>
            </a:r>
          </a:p>
        </p:txBody>
      </p:sp>
      <p:sp>
        <p:nvSpPr>
          <p:cNvPr id="4" name="background_block">
            <a:extLst>
              <a:ext uri="{FF2B5EF4-FFF2-40B4-BE49-F238E27FC236}">
                <a16:creationId xmlns:a16="http://schemas.microsoft.com/office/drawing/2014/main" id="{38176A5C-D173-4CE5-8B87-A1D02EA54F9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926" y="0"/>
            <a:ext cx="4094909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6" name="image_attribution">
            <a:extLst>
              <a:ext uri="{FF2B5EF4-FFF2-40B4-BE49-F238E27FC236}">
                <a16:creationId xmlns:a16="http://schemas.microsoft.com/office/drawing/2014/main" id="{27D196E1-1554-1258-960F-5C778357F79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2239625" y="9601200"/>
            <a:ext cx="505532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99584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9144000" y="6375"/>
            <a:ext cx="91440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3729318"/>
            <a:ext cx="7529186" cy="587188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19163" y="2263775"/>
            <a:ext cx="7529186" cy="146554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6569A8CA-36B2-E265-E4E7-8A8DF21B36D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277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23RD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197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6119813" y="6375"/>
            <a:ext cx="12168187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3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4410635"/>
            <a:ext cx="4624475" cy="519056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19075" y="2263775"/>
            <a:ext cx="4624475" cy="2146859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21B0C253-932F-B3BD-E206-97C92A0A7EA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9813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89932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TOP_WITH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_block">
            <a:extLst>
              <a:ext uri="{FF2B5EF4-FFF2-40B4-BE49-F238E27FC236}">
                <a16:creationId xmlns:a16="http://schemas.microsoft.com/office/drawing/2014/main" id="{A1C84CE4-FE6A-F2C4-A6BC-618800B883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5143500"/>
            <a:ext cx="1223962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12239624" y="6375"/>
            <a:ext cx="6048375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919074" y="5865222"/>
            <a:ext cx="10393359" cy="373597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075" y="2263775"/>
            <a:ext cx="10393358" cy="21939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5883D0F6-2B8F-8E60-1AD0-C2C9565B7E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97787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SMALL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_block">
            <a:extLst>
              <a:ext uri="{FF2B5EF4-FFF2-40B4-BE49-F238E27FC236}">
                <a16:creationId xmlns:a16="http://schemas.microsoft.com/office/drawing/2014/main" id="{A1C84CE4-FE6A-F2C4-A6BC-618800B883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5143500"/>
            <a:ext cx="18287999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12239624" y="6375"/>
            <a:ext cx="6048375" cy="51371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919074" y="5865222"/>
            <a:ext cx="10393359" cy="373597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075" y="2263775"/>
            <a:ext cx="10393358" cy="21939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5883D0F6-2B8F-8E60-1AD0-C2C9565B7E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06555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23RD_IMG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-30955" y="6375"/>
            <a:ext cx="1227058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12744450" y="4428564"/>
            <a:ext cx="4624475" cy="517263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12744450" y="2263775"/>
            <a:ext cx="4624475" cy="2164788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6A16B800-55C2-CFB0-4AA2-3CBB648B98D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16604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IMAGE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873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-30955" y="6375"/>
            <a:ext cx="91440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2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879496" y="3708450"/>
            <a:ext cx="7489429" cy="589275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879496" y="2263774"/>
            <a:ext cx="7489429" cy="144467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16002000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FB52679D-00ED-7CE2-017B-041885E86B3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5" name="background_block">
            <a:extLst>
              <a:ext uri="{FF2B5EF4-FFF2-40B4-BE49-F238E27FC236}">
                <a16:creationId xmlns:a16="http://schemas.microsoft.com/office/drawing/2014/main" id="{7BEEA341-586D-B048-35BC-9616BE85A2D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713842" y="0"/>
            <a:ext cx="57257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146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3_BLOCK_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20</a:t>
            </a:r>
          </a:p>
        </p:txBody>
      </p:sp>
      <p:sp>
        <p:nvSpPr>
          <p:cNvPr id="22" name="background_block">
            <a:extLst>
              <a:ext uri="{FF2B5EF4-FFF2-40B4-BE49-F238E27FC236}">
                <a16:creationId xmlns:a16="http://schemas.microsoft.com/office/drawing/2014/main" id="{D41494DB-BB2C-1488-7FA7-14252B9BB5E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0" y="9601200"/>
            <a:ext cx="18288000" cy="68579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AU" dirty="0"/>
          </a:p>
        </p:txBody>
      </p:sp>
      <p:sp>
        <p:nvSpPr>
          <p:cNvPr id="25" name="content_3">
            <a:extLst>
              <a:ext uri="{FF2B5EF4-FFF2-40B4-BE49-F238E27FC236}">
                <a16:creationId xmlns:a16="http://schemas.microsoft.com/office/drawing/2014/main" id="{A0A92251-08F7-740D-70BE-AE9F66EC98FA}"/>
              </a:ext>
            </a:extLst>
          </p:cNvPr>
          <p:cNvSpPr txBox="1">
            <a:spLocks noGrp="1"/>
          </p:cNvSpPr>
          <p:nvPr>
            <p:ph type="body" idx="21" hasCustomPrompt="1"/>
          </p:nvPr>
        </p:nvSpPr>
        <p:spPr>
          <a:xfrm>
            <a:off x="11357186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21</a:t>
            </a:r>
            <a:endParaRPr dirty="0"/>
          </a:p>
        </p:txBody>
      </p:sp>
      <p:sp>
        <p:nvSpPr>
          <p:cNvPr id="26" name="image_3">
            <a:extLst>
              <a:ext uri="{FF2B5EF4-FFF2-40B4-BE49-F238E27FC236}">
                <a16:creationId xmlns:a16="http://schemas.microsoft.com/office/drawing/2014/main" id="{989A4AD0-78D2-7CB1-A52C-254E41F679F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661779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18</a:t>
            </a: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32C7D559-D1EE-DBF8-7D21-FD5B68299FB8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6119813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24" name="image_2">
            <a:extLst>
              <a:ext uri="{FF2B5EF4-FFF2-40B4-BE49-F238E27FC236}">
                <a16:creationId xmlns:a16="http://schemas.microsoft.com/office/drawing/2014/main" id="{15E11F02-F723-E887-1059-7D8B547CC1F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24406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23668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2" name="image_attribution">
            <a:extLst>
              <a:ext uri="{FF2B5EF4-FFF2-40B4-BE49-F238E27FC236}">
                <a16:creationId xmlns:a16="http://schemas.microsoft.com/office/drawing/2014/main" id="{7D4BB170-9F09-7110-3CD4-AF58BD7B65E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383720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3_BLOCK_LAYOUT_V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E95E2-5F9A-CB34-90F6-EF198646E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22</a:t>
            </a:r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31000" y="2747907"/>
            <a:ext cx="4656225" cy="2047037"/>
          </a:xfr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22" name="background_block">
            <a:extLst>
              <a:ext uri="{FF2B5EF4-FFF2-40B4-BE49-F238E27FC236}">
                <a16:creationId xmlns:a16="http://schemas.microsoft.com/office/drawing/2014/main" id="{D41494DB-BB2C-1488-7FA7-14252B9BB5E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0" y="0"/>
            <a:ext cx="36195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AU" dirty="0"/>
          </a:p>
        </p:txBody>
      </p:sp>
      <p:sp>
        <p:nvSpPr>
          <p:cNvPr id="25" name="content_3">
            <a:extLst>
              <a:ext uri="{FF2B5EF4-FFF2-40B4-BE49-F238E27FC236}">
                <a16:creationId xmlns:a16="http://schemas.microsoft.com/office/drawing/2014/main" id="{A0A92251-08F7-740D-70BE-AE9F66EC98FA}"/>
              </a:ext>
            </a:extLst>
          </p:cNvPr>
          <p:cNvSpPr txBox="1">
            <a:spLocks noGrp="1"/>
          </p:cNvSpPr>
          <p:nvPr>
            <p:ph type="body" idx="21" hasCustomPrompt="1"/>
          </p:nvPr>
        </p:nvSpPr>
        <p:spPr>
          <a:xfrm>
            <a:off x="11357186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26" name="image_3">
            <a:extLst>
              <a:ext uri="{FF2B5EF4-FFF2-40B4-BE49-F238E27FC236}">
                <a16:creationId xmlns:a16="http://schemas.microsoft.com/office/drawing/2014/main" id="{989A4AD0-78D2-7CB1-A52C-254E41F679F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1357186" y="2747905"/>
            <a:ext cx="4644814" cy="2047037"/>
          </a:xfrm>
        </p:spPr>
        <p:txBody>
          <a:bodyPr/>
          <a:lstStyle/>
          <a:p>
            <a:r>
              <a:rPr lang="en-AU" dirty="0"/>
              <a:t>18</a:t>
            </a: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32C7D559-D1EE-DBF8-7D21-FD5B68299FB8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6119813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21</a:t>
            </a:r>
            <a:endParaRPr dirty="0"/>
          </a:p>
        </p:txBody>
      </p:sp>
      <p:sp>
        <p:nvSpPr>
          <p:cNvPr id="24" name="image_2">
            <a:extLst>
              <a:ext uri="{FF2B5EF4-FFF2-40B4-BE49-F238E27FC236}">
                <a16:creationId xmlns:a16="http://schemas.microsoft.com/office/drawing/2014/main" id="{15E11F02-F723-E887-1059-7D8B547CC1F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8390" y="2747906"/>
            <a:ext cx="4677648" cy="2047037"/>
          </a:xfr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192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4_BLOCK_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E95E2-5F9A-CB34-90F6-EF198646E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_4">
            <a:extLst>
              <a:ext uri="{FF2B5EF4-FFF2-40B4-BE49-F238E27FC236}">
                <a16:creationId xmlns:a16="http://schemas.microsoft.com/office/drawing/2014/main" id="{97130B1B-4ED5-07BD-72B7-007C1D1E0682}"/>
              </a:ext>
            </a:extLst>
          </p:cNvPr>
          <p:cNvSpPr txBox="1">
            <a:spLocks noGrp="1"/>
          </p:cNvSpPr>
          <p:nvPr>
            <p:ph type="body" idx="25" hasCustomPrompt="1"/>
          </p:nvPr>
        </p:nvSpPr>
        <p:spPr>
          <a:xfrm>
            <a:off x="13473932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25</a:t>
            </a:r>
            <a:endParaRPr dirty="0"/>
          </a:p>
        </p:txBody>
      </p:sp>
      <p:sp>
        <p:nvSpPr>
          <p:cNvPr id="22" name="image_4">
            <a:extLst>
              <a:ext uri="{FF2B5EF4-FFF2-40B4-BE49-F238E27FC236}">
                <a16:creationId xmlns:a16="http://schemas.microsoft.com/office/drawing/2014/main" id="{4D333938-660B-24CF-7672-26505437B26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473932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23</a:t>
            </a:r>
          </a:p>
        </p:txBody>
      </p:sp>
      <p:sp>
        <p:nvSpPr>
          <p:cNvPr id="12" name="content_3">
            <a:extLst>
              <a:ext uri="{FF2B5EF4-FFF2-40B4-BE49-F238E27FC236}">
                <a16:creationId xmlns:a16="http://schemas.microsoft.com/office/drawing/2014/main" id="{4EC85EFB-1D00-34F3-DEFC-3D132152607F}"/>
              </a:ext>
            </a:extLst>
          </p:cNvPr>
          <p:cNvSpPr txBox="1">
            <a:spLocks noGrp="1"/>
          </p:cNvSpPr>
          <p:nvPr>
            <p:ph type="body" idx="22" hasCustomPrompt="1"/>
          </p:nvPr>
        </p:nvSpPr>
        <p:spPr>
          <a:xfrm>
            <a:off x="9288980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22</a:t>
            </a:r>
            <a:endParaRPr dirty="0"/>
          </a:p>
        </p:txBody>
      </p:sp>
      <p:sp>
        <p:nvSpPr>
          <p:cNvPr id="13" name="image_3">
            <a:extLst>
              <a:ext uri="{FF2B5EF4-FFF2-40B4-BE49-F238E27FC236}">
                <a16:creationId xmlns:a16="http://schemas.microsoft.com/office/drawing/2014/main" id="{EA08CF17-561F-6A45-B311-DF3E79243E6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288980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20</a:t>
            </a:r>
          </a:p>
        </p:txBody>
      </p:sp>
      <p:sp>
        <p:nvSpPr>
          <p:cNvPr id="2" name="content_2">
            <a:extLst>
              <a:ext uri="{FF2B5EF4-FFF2-40B4-BE49-F238E27FC236}">
                <a16:creationId xmlns:a16="http://schemas.microsoft.com/office/drawing/2014/main" id="{B72C5E58-53F4-0EA6-D32E-ADEF51F174DB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5104028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5" name="image_2">
            <a:extLst>
              <a:ext uri="{FF2B5EF4-FFF2-40B4-BE49-F238E27FC236}">
                <a16:creationId xmlns:a16="http://schemas.microsoft.com/office/drawing/2014/main" id="{548E7E5D-1895-B2EB-B13F-C15207C409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104028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26</a:t>
            </a:r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9076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6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background_block">
            <a:extLst>
              <a:ext uri="{FF2B5EF4-FFF2-40B4-BE49-F238E27FC236}">
                <a16:creationId xmlns:a16="http://schemas.microsoft.com/office/drawing/2014/main" id="{D430C6F0-E30A-7BAF-6C33-C5B5211D4B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887448"/>
            <a:ext cx="18286412" cy="399551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734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CHART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33252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3429000"/>
            <a:ext cx="4624475" cy="6172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6994357" y="1028700"/>
            <a:ext cx="10374479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chart_attribution">
            <a:extLst>
              <a:ext uri="{FF2B5EF4-FFF2-40B4-BE49-F238E27FC236}">
                <a16:creationId xmlns:a16="http://schemas.microsoft.com/office/drawing/2014/main" id="{21B0C253-932F-B3BD-E206-97C92A0A7EA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9124" y="9601200"/>
            <a:ext cx="10404476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A3D5285-BC74-616C-FC2D-82173282C05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94357" y="2263775"/>
            <a:ext cx="10399712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5F36563A-2106-69C5-E8E9-27FA96DE80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94357" y="3429000"/>
            <a:ext cx="10399712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background_block">
            <a:extLst>
              <a:ext uri="{FF2B5EF4-FFF2-40B4-BE49-F238E27FC236}">
                <a16:creationId xmlns:a16="http://schemas.microsoft.com/office/drawing/2014/main" id="{688175B4-C1B3-DC4A-FC57-AA718C3244C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726546" y="0"/>
            <a:ext cx="559866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17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CHART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_block">
            <a:extLst>
              <a:ext uri="{FF2B5EF4-FFF2-40B4-BE49-F238E27FC236}">
                <a16:creationId xmlns:a16="http://schemas.microsoft.com/office/drawing/2014/main" id="{FDEABBCE-427C-A928-7A5F-A6E46759AD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607550"/>
            <a:ext cx="18286412" cy="67945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12744450" y="3429000"/>
            <a:ext cx="4624475" cy="5918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163" y="1028700"/>
            <a:ext cx="14625637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3398EF0-41AD-1DA3-9D4A-789F64FD72B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9957" y="2263775"/>
            <a:ext cx="10399712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C3DA4F55-4539-14D6-34D1-2DAB4E8397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075" y="3429000"/>
            <a:ext cx="10399712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chart_attribution">
            <a:extLst>
              <a:ext uri="{FF2B5EF4-FFF2-40B4-BE49-F238E27FC236}">
                <a16:creationId xmlns:a16="http://schemas.microsoft.com/office/drawing/2014/main" id="{BD69A525-8BD0-FB5F-9FB7-C8A123291AF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744450" y="9601200"/>
            <a:ext cx="46244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394265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FULLPAGE_CHAR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163" y="1028700"/>
            <a:ext cx="14625637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3398EF0-41AD-1DA3-9D4A-789F64FD72B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9956" y="2263775"/>
            <a:ext cx="14624843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C3DA4F55-4539-14D6-34D1-2DAB4E8397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074" y="3429000"/>
            <a:ext cx="14625725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background_block">
            <a:extLst>
              <a:ext uri="{FF2B5EF4-FFF2-40B4-BE49-F238E27FC236}">
                <a16:creationId xmlns:a16="http://schemas.microsoft.com/office/drawing/2014/main" id="{C99C115F-07D7-7960-E7F5-D108DC3DF8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607550"/>
            <a:ext cx="18286412" cy="67945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8" name="chart_attribution">
            <a:extLst>
              <a:ext uri="{FF2B5EF4-FFF2-40B4-BE49-F238E27FC236}">
                <a16:creationId xmlns:a16="http://schemas.microsoft.com/office/drawing/2014/main" id="{5FFC2887-C1F1-3ECB-D55D-8EC43892E78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744450" y="9601200"/>
            <a:ext cx="46244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CHART_ATTRIBUTION</a:t>
            </a:r>
          </a:p>
        </p:txBody>
      </p:sp>
    </p:spTree>
    <p:extLst>
      <p:ext uri="{BB962C8B-B14F-4D97-AF65-F5344CB8AC3E}">
        <p14:creationId xmlns:p14="http://schemas.microsoft.com/office/powerpoint/2010/main" val="47677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tags" Target="../tags/tag2.xml"/><Relationship Id="rId22" Type="http://schemas.openxmlformats.org/officeDocument/2006/relationships/oleObject" Target="../embeddings/oleObject1.bin"/><Relationship Id="rId2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D679FE-3B60-23E0-8EBD-D3204877D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20406065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Font typeface="Calibri"/>
              <a:buNone/>
              <a:defRPr sz="4800"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9075" y="2464225"/>
            <a:ext cx="14625600" cy="7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 err="1"/>
              <a:t>asd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6DCB6-BDD3-0C02-D0C6-B4B53F933815}"/>
              </a:ext>
            </a:extLst>
          </p:cNvPr>
          <p:cNvSpPr txBox="1"/>
          <p:nvPr userDrawn="1"/>
        </p:nvSpPr>
        <p:spPr>
          <a:xfrm>
            <a:off x="931000" y="9601200"/>
            <a:ext cx="518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Slides GPT Plugin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1" r:id="rId3"/>
    <p:sldLayoutId id="2147483673" r:id="rId4"/>
    <p:sldLayoutId id="2147483666" r:id="rId5"/>
    <p:sldLayoutId id="2147483662" r:id="rId6"/>
    <p:sldLayoutId id="2147483664" r:id="rId7"/>
    <p:sldLayoutId id="2147483660" r:id="rId8"/>
    <p:sldLayoutId id="2147483657" r:id="rId9"/>
    <p:sldLayoutId id="2147483665" r:id="rId10"/>
    <p:sldLayoutId id="2147483674" r:id="rId11"/>
    <p:sldLayoutId id="2147483658" r:id="rId12"/>
    <p:sldLayoutId id="2147483661" r:id="rId13"/>
    <p:sldLayoutId id="2147483655" r:id="rId14"/>
    <p:sldLayoutId id="2147483659" r:id="rId15"/>
    <p:sldLayoutId id="2147483656" r:id="rId16"/>
    <p:sldLayoutId id="2147483668" r:id="rId17"/>
    <p:sldLayoutId id="2147483669" r:id="rId18"/>
    <p:sldLayoutId id="2147483672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760">
          <p15:clr>
            <a:srgbClr val="E46962"/>
          </p15:clr>
        </p15:guide>
        <p15:guide id="2" pos="579">
          <p15:clr>
            <a:srgbClr val="E46962"/>
          </p15:clr>
        </p15:guide>
        <p15:guide id="3" pos="10944">
          <p15:clr>
            <a:srgbClr val="E46962"/>
          </p15:clr>
        </p15:guide>
        <p15:guide id="4" orient="horz" pos="648">
          <p15:clr>
            <a:srgbClr val="E46962"/>
          </p15:clr>
        </p15:guide>
        <p15:guide id="5" orient="horz" pos="6048">
          <p15:clr>
            <a:srgbClr val="E46962"/>
          </p15:clr>
        </p15:guide>
        <p15:guide id="6" orient="horz" pos="3240">
          <p15:clr>
            <a:srgbClr val="E46962"/>
          </p15:clr>
        </p15:guide>
        <p15:guide id="7" orient="horz" pos="1267">
          <p15:clr>
            <a:srgbClr val="E46962"/>
          </p15:clr>
        </p15:guide>
        <p15:guide id="8" pos="9792">
          <p15:clr>
            <a:srgbClr val="E46962"/>
          </p15:clr>
        </p15:guide>
        <p15:guide id="9" pos="10080">
          <p15:clr>
            <a:srgbClr val="E46962"/>
          </p15:clr>
        </p15:guide>
        <p15:guide id="10" pos="3855" userDrawn="1">
          <p15:clr>
            <a:srgbClr val="E46962"/>
          </p15:clr>
        </p15:guide>
        <p15:guide id="11" pos="7710" userDrawn="1">
          <p15:clr>
            <a:srgbClr val="E46962"/>
          </p15:clr>
        </p15:guide>
        <p15:guide id="12" orient="horz" pos="2160" userDrawn="1">
          <p15:clr>
            <a:srgbClr val="E46962"/>
          </p15:clr>
        </p15:guide>
        <p15:guide id="13" orient="horz" pos="4310" userDrawn="1">
          <p15:clr>
            <a:srgbClr val="E46962"/>
          </p15:clr>
        </p15:guide>
        <p15:guide id="14" orient="horz" pos="14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smartslides.crisp.help/en/article/how-to-use-smart-slides-1w14fiw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hyperlink" Target="https://unsplash.com/photos/abstract-swirling-purple-metallic-texture-with-light-reflections-Fx7E3RXCSUM?utm_source=smart%20slides&amp;utm_medium=referral" TargetMode="External"/><Relationship Id="rId5" Type="http://schemas.openxmlformats.org/officeDocument/2006/relationships/hyperlink" Target="https://unsplash.com/@creatvise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hyperlink" Target="https://unsplash.com/photos/a-translucent-purple-gem-on-a-dark-reflective-surface-EyKTld51tgU?utm_source=smart%20slides&amp;utm_medium=referral" TargetMode="External"/><Relationship Id="rId5" Type="http://schemas.openxmlformats.org/officeDocument/2006/relationships/hyperlink" Target="https://unsplash.com/@creatvise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6.jpg"/><Relationship Id="rId4" Type="http://schemas.openxmlformats.org/officeDocument/2006/relationships/hyperlink" Target="https://unsplash.com/photos/abstract-purple-shapes-with-reflections-on-surface-vXBCR53RSus?utm_source=smart%20slides&amp;utm_medium=referral" TargetMode="External"/><Relationship Id="rId5" Type="http://schemas.openxmlformats.org/officeDocument/2006/relationships/hyperlink" Target="https://unsplash.com/@creatvise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7.jpg"/><Relationship Id="rId4" Type="http://schemas.openxmlformats.org/officeDocument/2006/relationships/hyperlink" Target="https://unsplash.com/photos/abstract-swirling-form-with-vibrant-pink-and-blue-hues-9aPydE1dICI?utm_source=smart%20slides&amp;utm_medium=referral" TargetMode="External"/><Relationship Id="rId5" Type="http://schemas.openxmlformats.org/officeDocument/2006/relationships/hyperlink" Target="https://unsplash.com/@creatvise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8.jpg"/><Relationship Id="rId4" Type="http://schemas.openxmlformats.org/officeDocument/2006/relationships/hyperlink" Target="https://unsplash.com/photos/abstract-flowing-shape-with-purple-and-blue-highlights-6phPZcJmUKY?utm_source=smart%20slides&amp;utm_medium=referral" TargetMode="External"/><Relationship Id="rId5" Type="http://schemas.openxmlformats.org/officeDocument/2006/relationships/hyperlink" Target="https://unsplash.com/@creatvise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9.jpg"/><Relationship Id="rId4" Type="http://schemas.openxmlformats.org/officeDocument/2006/relationships/hyperlink" Target="https://unsplash.com/photos/purple-liquid-swirling-inside-a-glass-container-with-bubbles-GNMd5gkTOVY?utm_source=smart%20slides&amp;utm_medium=referral" TargetMode="External"/><Relationship Id="rId5" Type="http://schemas.openxmlformats.org/officeDocument/2006/relationships/hyperlink" Target="https://unsplash.com/@creatvise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10.jpg"/><Relationship Id="rId4" Type="http://schemas.openxmlformats.org/officeDocument/2006/relationships/hyperlink" Target="https://unsplash.com/photos/abstract-blue-and-pink-swirling-shapes-on-black-background-E9IYenPOY7s?utm_source=smart%20slides&amp;utm_medium=referral" TargetMode="External"/><Relationship Id="rId5" Type="http://schemas.openxmlformats.org/officeDocument/2006/relationships/hyperlink" Target="https://unsplash.com/@creatvise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11.jpg"/><Relationship Id="rId4" Type="http://schemas.openxmlformats.org/officeDocument/2006/relationships/hyperlink" Target="https://unsplash.com/photos/a-group-of-colorful-lights-4Tm0Nji3UYE?utm_source=smart%20slides&amp;utm_medium=referral" TargetMode="External"/><Relationship Id="rId5" Type="http://schemas.openxmlformats.org/officeDocument/2006/relationships/hyperlink" Target="https://unsplash.com/@artemov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hyperlink" Target="https://unsplash.com/photos/abstract-dark-background-with-colorful-smoke-wisps-tzQLYtFov5M?utm_source=smart%20slides&amp;utm_medium=referral" TargetMode="External"/><Relationship Id="rId5" Type="http://schemas.openxmlformats.org/officeDocument/2006/relationships/hyperlink" Target="https://unsplash.com/@cherstve_pechivo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13.jpg"/><Relationship Id="rId4" Type="http://schemas.openxmlformats.org/officeDocument/2006/relationships/hyperlink" Target="https://unsplash.com/photos/a-blurry-image-of-a-blue-and-purple-wave-4ku4KFX75Uc?utm_source=smart%20slides&amp;utm_medium=referral" TargetMode="External"/><Relationship Id="rId5" Type="http://schemas.openxmlformats.org/officeDocument/2006/relationships/hyperlink" Target="https://unsplash.com/@blender_person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C9221A-92F0-FB9E-57A7-AEB575A5AA4C}"/>
              </a:ext>
            </a:extLst>
          </p:cNvPr>
          <p:cNvSpPr/>
          <p:nvPr/>
        </p:nvSpPr>
        <p:spPr>
          <a:xfrm>
            <a:off x="0" y="6383868"/>
            <a:ext cx="18288000" cy="3903132"/>
          </a:xfrm>
          <a:prstGeom prst="rect">
            <a:avLst/>
          </a:prstGeom>
          <a:gradFill flip="none" rotWithShape="1">
            <a:gsLst>
              <a:gs pos="0">
                <a:srgbClr val="8500EA">
                  <a:shade val="30000"/>
                  <a:satMod val="115000"/>
                </a:srgbClr>
              </a:gs>
              <a:gs pos="50000">
                <a:srgbClr val="8500EA">
                  <a:shade val="67500"/>
                  <a:satMod val="115000"/>
                </a:srgbClr>
              </a:gs>
              <a:gs pos="100000">
                <a:srgbClr val="8500E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qr code with a few black squares&#10;&#10;Description automatically generated">
            <a:extLst>
              <a:ext uri="{FF2B5EF4-FFF2-40B4-BE49-F238E27FC236}">
                <a16:creationId xmlns:a16="http://schemas.microsoft.com/office/drawing/2014/main" id="{ADF97C43-FFD9-C50D-67C9-5D8F74E3763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953375" y="6877050"/>
            <a:ext cx="2381250" cy="2381250"/>
          </a:xfrm>
        </p:spPr>
      </p:pic>
      <p:pic>
        <p:nvPicPr>
          <p:cNvPr id="6" name="Picture Placeholder 5" descr="A purple graph on a black background&#10;&#10;Description automatically generated">
            <a:extLst>
              <a:ext uri="{FF2B5EF4-FFF2-40B4-BE49-F238E27FC236}">
                <a16:creationId xmlns:a16="http://schemas.microsoft.com/office/drawing/2014/main" id="{2323F572-E851-6408-D690-6E087E72846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3960" b="3960"/>
          <a:stretch/>
        </p:blipFill>
        <p:spPr>
          <a:xfrm>
            <a:off x="8231937" y="1028700"/>
            <a:ext cx="1824125" cy="167933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FC5B71-67AB-5D93-A1A4-B95EAE1F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8500EA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Smart Slides</a:t>
            </a:r>
            <a:endParaRPr lang="en-US" dirty="0">
              <a:solidFill>
                <a:srgbClr val="8500EA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A0CB6-3056-0571-6877-5914D2B28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9652" y="5143500"/>
            <a:ext cx="14044090" cy="443528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Make Slides in a flash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67CAAE-D0DC-E770-4CEF-DD7329B719CB}"/>
              </a:ext>
            </a:extLst>
          </p:cNvPr>
          <p:cNvSpPr txBox="1"/>
          <p:nvPr/>
        </p:nvSpPr>
        <p:spPr>
          <a:xfrm>
            <a:off x="4559697" y="942406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Smart Slides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4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Fx7E3RXCSUM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5350" r="5350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Clarify the mission and purpose.</a:t>
            </a:r>
          </a:p>
          <a:p>
            <a:pPr>
              <a:defRPr sz="3600">
                <a:latin typeface="Poppins"/>
              </a:defRPr>
            </a:pPr>
            <a:r>
              <a:t>Define what success looks like.</a:t>
            </a:r>
          </a:p>
          <a:p>
            <a:pPr>
              <a:defRPr sz="3600">
                <a:latin typeface="Poppins"/>
              </a:defRPr>
            </a:pPr>
            <a:r>
              <a:t>Set measurable KPIs to align every effort.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STEP 1 - GOAL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Abstract swirling purple metallic texture with light reflections</a:t>
            </a:r>
          </a:p>
          <a:p>
            <a:r>
              <a:rPr>
                <a:hlinkClick r:id="rId5"/>
              </a:rPr>
              <a:t>Photo by Creatvise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yKTld51tgU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761" r="25761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Push limits in every domain — creative, technical, strategic.</a:t>
            </a:r>
          </a:p>
          <a:p>
            <a:pPr>
              <a:defRPr sz="3600">
                <a:latin typeface="Poppins"/>
              </a:defRPr>
            </a:pPr>
            <a:r>
              <a:t>Eliminate ceilings: test, iterate, and optimize constantly.</a:t>
            </a:r>
          </a:p>
          <a:p>
            <a:pPr>
              <a:defRPr sz="3600">
                <a:latin typeface="Poppins"/>
              </a:defRPr>
            </a:pPr>
            <a:r>
              <a:t>Drive high energy across every initiative.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STEP 2 - MAX THINGS OUT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translucent purple gem on a dark reflective surface.</a:t>
            </a:r>
          </a:p>
          <a:p>
            <a:r>
              <a:rPr>
                <a:hlinkClick r:id="rId5"/>
              </a:rPr>
              <a:t>Photo by Creatvise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6A0DAD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vXBCR53RSus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761" r="25761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Spotify as the central ecosystem for growth.</a:t>
            </a:r>
          </a:p>
          <a:p>
            <a:pPr>
              <a:defRPr sz="3600">
                <a:latin typeface="Poppins"/>
              </a:defRPr>
            </a:pPr>
            <a:r>
              <a:t>Use data-driven insights, playlists, and algorithmic pushes.</a:t>
            </a:r>
          </a:p>
          <a:p>
            <a:pPr>
              <a:defRPr sz="3600">
                <a:latin typeface="Poppins"/>
              </a:defRPr>
            </a:pPr>
            <a:r>
              <a:t>Collaborate with curators and leverage listener analytics.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A - SPOTIFY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Abstract purple shapes with reflections on surface</a:t>
            </a:r>
          </a:p>
          <a:p>
            <a:r>
              <a:rPr>
                <a:hlinkClick r:id="rId5"/>
              </a:rPr>
              <a:t>Photo by Creatvise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9aPydE1dICI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761" r="25761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Create powerful storytelling that builds emotion and brand equity.</a:t>
            </a:r>
          </a:p>
          <a:p>
            <a:pPr>
              <a:defRPr sz="3600">
                <a:latin typeface="Poppins"/>
              </a:defRPr>
            </a:pPr>
            <a:r>
              <a:t>Maintain consistency across formats and platforms.</a:t>
            </a:r>
          </a:p>
          <a:p>
            <a:pPr>
              <a:defRPr sz="3600">
                <a:latin typeface="Poppins"/>
              </a:defRPr>
            </a:pPr>
            <a:r>
              <a:t>Focus on authenticity and audience resonance.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B - CONTENT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Abstract swirling form with vibrant pink and blue hues</a:t>
            </a:r>
          </a:p>
          <a:p>
            <a:r>
              <a:rPr>
                <a:hlinkClick r:id="rId5"/>
              </a:rPr>
              <a:t>Photo by Creatvise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6A0DAD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6phPZcJmUKY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761" r="25761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Build long-term relationships with industry players and collaborators.</a:t>
            </a:r>
          </a:p>
          <a:p>
            <a:pPr>
              <a:defRPr sz="3600">
                <a:latin typeface="Poppins"/>
              </a:defRPr>
            </a:pPr>
            <a:r>
              <a:t>Networking and partnerships fuel exponential reach.</a:t>
            </a:r>
          </a:p>
          <a:p>
            <a:pPr>
              <a:defRPr sz="3600">
                <a:latin typeface="Poppins"/>
              </a:defRPr>
            </a:pPr>
            <a:r>
              <a:t>Align efforts for cross-promotion and collective wins.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C - THE CONNECTIONS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Abstract flowing shape with purple and blue highlights</a:t>
            </a:r>
          </a:p>
          <a:p>
            <a:r>
              <a:rPr>
                <a:hlinkClick r:id="rId5"/>
              </a:rPr>
              <a:t>Photo by Creatvise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GNMd5gkTOVY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761" r="25761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Transition into the next growth stage with focus and vision.</a:t>
            </a:r>
          </a:p>
          <a:p>
            <a:pPr>
              <a:defRPr sz="3600">
                <a:latin typeface="Poppins"/>
              </a:defRPr>
            </a:pPr>
            <a:r>
              <a:t>Refine processes and implement smarter execution strategies.</a:t>
            </a:r>
          </a:p>
          <a:p>
            <a:pPr>
              <a:defRPr sz="3600">
                <a:latin typeface="Poppins"/>
              </a:defRPr>
            </a:pPr>
            <a:r>
              <a:t>Capitalize on momentum to scale effectively.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NEW PHASE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Purple liquid swirling inside a glass container with bubbles</a:t>
            </a:r>
          </a:p>
          <a:p>
            <a:r>
              <a:rPr>
                <a:hlinkClick r:id="rId5"/>
              </a:rPr>
              <a:t>Photo by Creatvise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6A0DAD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9IYenPOY7s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761" r="25761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Weekly calls sustain accountability and momentum.</a:t>
            </a:r>
          </a:p>
          <a:p>
            <a:pPr>
              <a:defRPr sz="3600">
                <a:latin typeface="Poppins"/>
              </a:defRPr>
            </a:pPr>
            <a:r>
              <a:t>Review goals, wins, and next steps — every week counts.</a:t>
            </a:r>
          </a:p>
          <a:p>
            <a:pPr>
              <a:defRPr sz="3600">
                <a:latin typeface="Poppins"/>
              </a:defRPr>
            </a:pPr>
            <a:r>
              <a:t>Maintain rhythm and transparent communication.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STEP 6 - THAT’S WHY WE DO A WEEKLY CALL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Abstract blue and pink swirling shapes on black background</a:t>
            </a:r>
          </a:p>
          <a:p>
            <a:r>
              <a:rPr>
                <a:hlinkClick r:id="rId5"/>
              </a:rPr>
              <a:t>Photo by Creatvise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4Tm0Nji3UYE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0247" r="20247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Outline a strategic roadmap for sustainable growth.</a:t>
            </a:r>
          </a:p>
          <a:p>
            <a:pPr>
              <a:defRPr sz="3600">
                <a:latin typeface="Poppins"/>
              </a:defRPr>
            </a:pPr>
            <a:r>
              <a:t>Plan yearly milestones with flexibility for innovation.</a:t>
            </a:r>
          </a:p>
          <a:p>
            <a:pPr>
              <a:defRPr sz="3600">
                <a:latin typeface="Poppins"/>
              </a:defRPr>
            </a:pPr>
            <a:r>
              <a:t>Keep a clear north star vision across all teams.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STEP 7 - LONG-TERM PLAN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group of colorful lights</a:t>
            </a:r>
          </a:p>
          <a:p>
            <a:r>
              <a:rPr>
                <a:hlinkClick r:id="rId5"/>
              </a:rPr>
              <a:t>Photo by Artem Artemov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6A0DAD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tzQLYtFov5M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0329" r="2032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Analyze performance with measurable outcomes.</a:t>
            </a:r>
          </a:p>
          <a:p>
            <a:pPr>
              <a:defRPr sz="3600">
                <a:latin typeface="Poppins"/>
              </a:defRPr>
            </a:pPr>
            <a:r>
              <a:t>Celebrate key wins while learning from data.</a:t>
            </a:r>
          </a:p>
          <a:p>
            <a:pPr>
              <a:defRPr sz="3600">
                <a:latin typeface="Poppins"/>
              </a:defRPr>
            </a:pPr>
            <a:r>
              <a:t>Refine strategy to improve ROI and audience retention.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STEP 8 - RETURN ON RESULTS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Abstract dark background with colorful smoke wisps.</a:t>
            </a:r>
          </a:p>
          <a:p>
            <a:r>
              <a:rPr>
                <a:hlinkClick r:id="rId5"/>
              </a:rPr>
              <a:t>Photo by Liana S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4ku4KFX75Uc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4979" r="2497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Review achievements, lessons, and missed opportunities.</a:t>
            </a:r>
          </a:p>
          <a:p>
            <a:pPr>
              <a:defRPr sz="3600">
                <a:latin typeface="Poppins"/>
              </a:defRPr>
            </a:pPr>
            <a:r>
              <a:t>Set new priorities with aligned timelines and deliverables.</a:t>
            </a:r>
          </a:p>
          <a:p>
            <a:pPr>
              <a:defRPr sz="3600">
                <a:latin typeface="Poppins"/>
              </a:defRPr>
            </a:pPr>
            <a:r>
              <a:t>Establish a renewed direction for the upcoming year.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STEP 9 - RECAP LAST YEAR / PLAN THIS YEAR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A blurry image of a blue and purple wave</a:t>
            </a:r>
          </a:p>
          <a:p>
            <a:r>
              <a:rPr>
                <a:hlinkClick r:id="rId5"/>
              </a:rPr>
              <a:t>Photo by Wesley Ford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6A0DAD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3969" b="396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Poppins"/>
              </a:defRPr>
            </a:pPr>
            <a:r>
              <a:t>Learn more about how to use this plugin by visiting https://smartslides.crisp.help/en/article/how-to-use-smart-slides-1w14fiw/</a:t>
            </a:r>
          </a:p>
          <a:p>
            <a:pPr>
              <a:defRPr sz="3600">
                <a:latin typeface="Poppins"/>
              </a:defRPr>
            </a:pPr>
            <a:r>
              <a:t>Example Prompts:</a:t>
            </a:r>
          </a:p>
          <a:p>
            <a:pPr>
              <a:defRPr sz="3600">
                <a:latin typeface="Poppins"/>
              </a:defRPr>
            </a:pPr>
            <a:r>
              <a:t>Make me a 5 slide presentation about the history of the united states and include charts with images of mountains and rivers</a:t>
            </a:r>
          </a:p>
          <a:p>
            <a:pPr>
              <a:defRPr sz="3600">
                <a:latin typeface="Poppins"/>
              </a:defRPr>
            </a:pPr>
            <a:r>
              <a:t>Make me a 5 slide tourist presentation about Norway and lofoten islands with varied layouts and images of the northern lights using </a:t>
            </a:r>
          </a:p>
          <a:p>
            <a:pPr>
              <a:defRPr sz="3600">
                <a:latin typeface="Poppins"/>
              </a:defRPr>
            </a:pPr>
            <a:r>
              <a:t>Create a presentation with 5 slides about Sydney with images of Bondi Beach and the Opera House use font size 46 for headings and 36 for content. Use this color #FF5A5F (red) and inlude lots of image slides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6A0DAD"/>
                </a:solidFill>
                <a:latin typeface="Poppins"/>
              </a:defRPr>
            </a:pPr>
            <a:r>
              <a:t>Thanks for using Smart Slides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>
          <a:solidFill>
            <a:srgbClr val="6A0DAD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mart Slides v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00EA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12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Roboto Light</vt:lpstr>
      <vt:lpstr>Calibri</vt:lpstr>
      <vt:lpstr>Raleway</vt:lpstr>
      <vt:lpstr>Arial</vt:lpstr>
      <vt:lpstr>Smart Slides v1</vt:lpstr>
      <vt:lpstr>think-cell Slide</vt:lpstr>
      <vt:lpstr>Smart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Slides</dc:title>
  <cp:lastModifiedBy>leo lukaz</cp:lastModifiedBy>
  <cp:revision>63</cp:revision>
  <dcterms:modified xsi:type="dcterms:W3CDTF">2023-10-11T13:10:17Z</dcterms:modified>
</cp:coreProperties>
</file>